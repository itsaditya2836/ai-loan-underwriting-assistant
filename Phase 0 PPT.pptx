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8C2C8-577F-4282-81B3-9E03F62CE64B}" v="370" dt="2026-09-17T03:45:14.509"/>
    <p1510:client id="{C6D9E0C4-3415-4B82-8C49-2BF8AD87C688}" v="46" dt="2026-09-17T03:34:34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639000"/>
            <a:ext cx="9143640" cy="6210360"/>
          </a:xfrm>
          <a:prstGeom prst="rect">
            <a:avLst/>
          </a:prstGeom>
          <a:blipFill rotWithShape="0">
            <a:blip r:embed="rId14"/>
            <a:tile/>
          </a:blipFill>
          <a:ln/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" name="CustomShape 2"/>
          <p:cNvSpPr/>
          <p:nvPr/>
        </p:nvSpPr>
        <p:spPr>
          <a:xfrm>
            <a:off x="0" y="-26640"/>
            <a:ext cx="9143640" cy="639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3600" b="1" strike="noStrike" spc="-1">
                <a:solidFill>
                  <a:srgbClr val="F10000"/>
                </a:solidFill>
                <a:latin typeface="Lucida Sans"/>
              </a:rPr>
              <a:t>BMS</a:t>
            </a:r>
            <a:r>
              <a:rPr lang="en-US" sz="2700" b="1" strike="noStrike" spc="-1">
                <a:solidFill>
                  <a:srgbClr val="F10000"/>
                </a:solidFill>
                <a:latin typeface="Lucida Sans"/>
              </a:rPr>
              <a:t> </a:t>
            </a:r>
            <a:r>
              <a:rPr lang="en-US" sz="2000" b="1" strike="noStrike" spc="-1">
                <a:solidFill>
                  <a:srgbClr val="001E5A"/>
                </a:solidFill>
                <a:latin typeface="Lucida Sans"/>
              </a:rPr>
              <a:t>INSTITUTE OF TECHNOLOGY AND MANAGEMENT</a:t>
            </a:r>
            <a:endParaRPr lang="en-IN" sz="2000" b="0" strike="noStrike" spc="-1">
              <a:latin typeface="Arial"/>
            </a:endParaRPr>
          </a:p>
        </p:txBody>
      </p:sp>
      <p:pic>
        <p:nvPicPr>
          <p:cNvPr id="2" name="Picture 9" descr="C:\Users\Placement\Downloads\Logos\BMSIT LOGO Sept 2015.jpg"/>
          <p:cNvPicPr/>
          <p:nvPr/>
        </p:nvPicPr>
        <p:blipFill>
          <a:blip r:embed="rId15"/>
          <a:stretch/>
        </p:blipFill>
        <p:spPr>
          <a:xfrm>
            <a:off x="139320" y="17640"/>
            <a:ext cx="627840" cy="579240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Image result for india"/>
          <p:cNvPicPr/>
          <p:nvPr/>
        </p:nvPicPr>
        <p:blipFill>
          <a:blip r:embed="rId16"/>
          <a:srcRect l="19689" r="16352" b="17185"/>
          <a:stretch/>
        </p:blipFill>
        <p:spPr>
          <a:xfrm>
            <a:off x="8503560" y="104040"/>
            <a:ext cx="461160" cy="488880"/>
          </a:xfrm>
          <a:prstGeom prst="rect">
            <a:avLst/>
          </a:prstGeom>
          <a:ln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F1659096-9CE7-452C-8A9D-4767645B1660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IN" sz="2400" b="0" strike="noStrike" spc="-1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5502A68-004A-4827-AC8F-1F43F5A209E1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2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718F4E3-3342-44D9-9C0F-4FC0C0026420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1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47" name="CustomShape 3"/>
          <p:cNvSpPr/>
          <p:nvPr/>
        </p:nvSpPr>
        <p:spPr>
          <a:xfrm>
            <a:off x="1392696" y="2414064"/>
            <a:ext cx="6654888" cy="2029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                                            Presented By</a:t>
            </a:r>
            <a:endParaRPr lang="en-IN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IN" sz="1800" b="0" strike="noStrike" spc="-1" dirty="0">
              <a:latin typeface="Arial"/>
            </a:endParaRPr>
          </a:p>
          <a:p>
            <a:pPr algn="just"/>
            <a:r>
              <a:rPr lang="en-US" b="1" spc="-1" dirty="0">
                <a:solidFill>
                  <a:srgbClr val="000000"/>
                </a:solidFill>
                <a:latin typeface="Open Sans"/>
                <a:ea typeface="Open Sans"/>
              </a:rPr>
              <a:t>MITHARE ADITYA SAGAR                   USN</a:t>
            </a:r>
            <a:r>
              <a:rPr lang="en-US" sz="1800" b="1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: 1TD24AI105</a:t>
            </a:r>
            <a:endParaRPr lang="en-IN" sz="1800" b="0" strike="noStrike" spc="-1" dirty="0">
              <a:latin typeface="Arial"/>
            </a:endParaRPr>
          </a:p>
          <a:p>
            <a:pPr algn="just"/>
            <a:r>
              <a:rPr lang="en-US" b="1" spc="-1" dirty="0">
                <a:solidFill>
                  <a:srgbClr val="000000"/>
                </a:solidFill>
                <a:latin typeface="Open Sans"/>
                <a:ea typeface="Open Sans"/>
              </a:rPr>
              <a:t>NABIHA FATHIMA S                                  USN</a:t>
            </a:r>
            <a:r>
              <a:rPr lang="en-US" sz="1800" b="1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: </a:t>
            </a:r>
            <a:r>
              <a:rPr lang="en-IN" b="1" spc="-1" dirty="0">
                <a:solidFill>
                  <a:srgbClr val="000000"/>
                </a:solidFill>
                <a:latin typeface="Open Sans"/>
                <a:ea typeface="Open Sans"/>
              </a:rPr>
              <a:t>1</a:t>
            </a:r>
            <a:r>
              <a:rPr lang="en-IN" sz="1800" b="1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TD24AI112</a:t>
            </a:r>
            <a:endParaRPr lang="en-IN" sz="1800" b="0" strike="noStrike" spc="-1" dirty="0">
              <a:latin typeface="Arial"/>
            </a:endParaRPr>
          </a:p>
          <a:p>
            <a:pPr algn="just"/>
            <a:r>
              <a:rPr lang="en-US" b="1" spc="-1" dirty="0">
                <a:solidFill>
                  <a:srgbClr val="000000"/>
                </a:solidFill>
                <a:latin typeface="Open Sans"/>
                <a:ea typeface="Open Sans"/>
              </a:rPr>
              <a:t>ADITYA PRASAD                                        USN</a:t>
            </a:r>
            <a:r>
              <a:rPr lang="en-US" sz="1800" b="1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: 1BY24AI007</a:t>
            </a:r>
          </a:p>
          <a:p>
            <a:pPr algn="just"/>
            <a:r>
              <a:rPr lang="en-US" b="1" spc="-1" dirty="0">
                <a:solidFill>
                  <a:srgbClr val="000000"/>
                </a:solidFill>
                <a:latin typeface="Open Sans"/>
                <a:ea typeface="Open Sans"/>
              </a:rPr>
              <a:t>ROHAN SUDEESH                                      USN: </a:t>
            </a:r>
            <a:r>
              <a:rPr lang="en-IN" b="1" spc="-1" dirty="0">
                <a:solidFill>
                  <a:srgbClr val="000000"/>
                </a:solidFill>
                <a:latin typeface="Open Sans"/>
                <a:ea typeface="Open Sans"/>
              </a:rPr>
              <a:t>1TD24AI151</a:t>
            </a:r>
            <a:endParaRPr lang="en-IN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430140" y="897480"/>
            <a:ext cx="858000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3600" b="0" strike="noStrike" spc="-1" dirty="0">
                <a:solidFill>
                  <a:srgbClr val="FF0000"/>
                </a:solidFill>
                <a:latin typeface="Open Sans"/>
                <a:ea typeface="Open Sans"/>
              </a:rPr>
              <a:t>Mini Project Phase – </a:t>
            </a:r>
            <a:r>
              <a:rPr lang="en-IN" sz="3600" spc="-1" dirty="0">
                <a:solidFill>
                  <a:srgbClr val="FF0000"/>
                </a:solidFill>
                <a:latin typeface="Open Sans"/>
                <a:ea typeface="Open Sans"/>
              </a:rPr>
              <a:t>0</a:t>
            </a:r>
            <a:endParaRPr lang="en-IN" sz="3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IN" sz="3600" b="0" strike="noStrike" spc="-1" dirty="0">
                <a:solidFill>
                  <a:srgbClr val="385623"/>
                </a:solidFill>
                <a:latin typeface="Open Sans"/>
                <a:ea typeface="Open Sans"/>
              </a:rPr>
              <a:t>Title:  </a:t>
            </a:r>
            <a:r>
              <a:rPr lang="en-IN" sz="3600" spc="-1" dirty="0">
                <a:solidFill>
                  <a:srgbClr val="385623"/>
                </a:solidFill>
                <a:latin typeface="Open Sans"/>
                <a:ea typeface="Open Sans"/>
              </a:rPr>
              <a:t>AI Loan Underwriting Assistant</a:t>
            </a:r>
            <a:endParaRPr lang="en-IN" sz="3600" b="0" strike="noStrike" spc="-1" dirty="0">
              <a:latin typeface="Arial"/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2B6CC4FD-BABF-E3CA-B252-51B3CE729ACA}"/>
              </a:ext>
            </a:extLst>
          </p:cNvPr>
          <p:cNvSpPr/>
          <p:nvPr/>
        </p:nvSpPr>
        <p:spPr>
          <a:xfrm>
            <a:off x="409105" y="4834032"/>
            <a:ext cx="832248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Under the guidance </a:t>
            </a:r>
            <a:r>
              <a:rPr lang="en-US" sz="2000" spc="-1" dirty="0">
                <a:solidFill>
                  <a:srgbClr val="000000"/>
                </a:solidFill>
                <a:latin typeface="Open Sans"/>
                <a:ea typeface="Open Sans"/>
              </a:rPr>
              <a:t>of</a:t>
            </a:r>
            <a:endParaRPr lang="en-IN" sz="2000" spc="-1">
              <a:solidFill>
                <a:srgbClr val="000000"/>
              </a:solidFill>
              <a:latin typeface="Arial"/>
              <a:ea typeface="Open Sans"/>
            </a:endParaRPr>
          </a:p>
          <a:p>
            <a:pPr algn="ctr">
              <a:lnSpc>
                <a:spcPct val="100000"/>
              </a:lnSpc>
            </a:pPr>
            <a:r>
              <a:rPr lang="en-US" sz="2000" b="1" spc="-1" dirty="0">
                <a:solidFill>
                  <a:srgbClr val="C55A11"/>
                </a:solidFill>
                <a:latin typeface="Open Sans"/>
                <a:ea typeface="Open Sans"/>
              </a:rPr>
              <a:t>Prof</a:t>
            </a:r>
            <a:r>
              <a:rPr lang="en-US" sz="2000" b="1" strike="noStrike" spc="-1" dirty="0">
                <a:solidFill>
                  <a:srgbClr val="C55A11"/>
                </a:solidFill>
                <a:latin typeface="Open Sans"/>
                <a:ea typeface="Open Sans"/>
              </a:rPr>
              <a:t>. Pavithra G</a:t>
            </a:r>
            <a:endParaRPr lang="en-IN" sz="2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000000"/>
                </a:solidFill>
                <a:latin typeface="Open Sans"/>
                <a:ea typeface="Open Sans"/>
              </a:rPr>
              <a:t>Assistant Professor, Department of AI&amp;ML   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-3184" y="6493289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E0A0D5A-29CA-4598-98AE-F3B851904A26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4578C37-6689-4772-95B2-A9F798A30061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2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1" name="CustomShape 3"/>
          <p:cNvSpPr/>
          <p:nvPr/>
        </p:nvSpPr>
        <p:spPr>
          <a:xfrm>
            <a:off x="2395440" y="862920"/>
            <a:ext cx="3799080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5092CF"/>
                </a:solidFill>
                <a:latin typeface="Open Sans"/>
                <a:ea typeface="Open Sans"/>
              </a:rPr>
              <a:t>Content</a:t>
            </a:r>
            <a:r>
              <a:rPr lang="en-US" sz="4000" b="1" strike="noStrike" spc="-1" dirty="0">
                <a:solidFill>
                  <a:srgbClr val="F10000"/>
                </a:solidFill>
                <a:latin typeface="Cambria"/>
                <a:ea typeface="Open Sans"/>
              </a:rPr>
              <a:t> 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900720" y="1995120"/>
            <a:ext cx="7218000" cy="2029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endParaRPr lang="en-IN" sz="1800" b="0" strike="noStrike" spc="-1" dirty="0">
              <a:latin typeface="Arial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Introduction</a:t>
            </a:r>
            <a:endParaRPr lang="en-IN" sz="1800" b="0" strike="noStrike" spc="-1" dirty="0">
              <a:latin typeface="Arial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Problem Statement</a:t>
            </a:r>
            <a:endParaRPr lang="en-IN" sz="1800" b="0" strike="noStrike" spc="-1" dirty="0">
              <a:latin typeface="Arial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Objectives</a:t>
            </a:r>
            <a:endParaRPr lang="en-IN" sz="1800" b="0" strike="noStrike" spc="-1" dirty="0">
              <a:latin typeface="Arial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</a:rPr>
              <a:t>References : (IEEE format)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5ECD-FB3D-E27D-1662-CC2E7FDC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>
            <a:extLst>
              <a:ext uri="{FF2B5EF4-FFF2-40B4-BE49-F238E27FC236}">
                <a16:creationId xmlns:a16="http://schemas.microsoft.com/office/drawing/2014/main" id="{294293C6-5FCB-95FB-8F33-20CCFE4E14BD}"/>
              </a:ext>
            </a:extLst>
          </p:cNvPr>
          <p:cNvSpPr txBox="1"/>
          <p:nvPr/>
        </p:nvSpPr>
        <p:spPr>
          <a:xfrm>
            <a:off x="1666" y="6491626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E0A0D5A-29CA-4598-98AE-F3B851904A26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0" name="TextShape 2">
            <a:extLst>
              <a:ext uri="{FF2B5EF4-FFF2-40B4-BE49-F238E27FC236}">
                <a16:creationId xmlns:a16="http://schemas.microsoft.com/office/drawing/2014/main" id="{0071F1E7-33E9-9688-F775-BCE905F53476}"/>
              </a:ext>
            </a:extLst>
          </p:cNvPr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4578C37-6689-4772-95B2-A9F798A30061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3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1" name="CustomShape 3">
            <a:extLst>
              <a:ext uri="{FF2B5EF4-FFF2-40B4-BE49-F238E27FC236}">
                <a16:creationId xmlns:a16="http://schemas.microsoft.com/office/drawing/2014/main" id="{7E1DB7CA-7758-75CF-CF7C-1A813C83482E}"/>
              </a:ext>
            </a:extLst>
          </p:cNvPr>
          <p:cNvSpPr/>
          <p:nvPr/>
        </p:nvSpPr>
        <p:spPr>
          <a:xfrm>
            <a:off x="2395440" y="862920"/>
            <a:ext cx="3799080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5092CF"/>
                </a:solidFill>
                <a:latin typeface="Open Sans"/>
                <a:ea typeface="Open Sans"/>
              </a:rPr>
              <a:t>Introduction</a:t>
            </a:r>
            <a:r>
              <a:rPr lang="en-US" sz="4000" b="1" strike="noStrike" spc="-1" dirty="0">
                <a:solidFill>
                  <a:srgbClr val="F10000"/>
                </a:solidFill>
                <a:latin typeface="Cambria"/>
                <a:ea typeface="Open Sans"/>
              </a:rPr>
              <a:t> 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52" name="CustomShape 4">
            <a:extLst>
              <a:ext uri="{FF2B5EF4-FFF2-40B4-BE49-F238E27FC236}">
                <a16:creationId xmlns:a16="http://schemas.microsoft.com/office/drawing/2014/main" id="{0B92CDE2-80A3-77B3-B59B-BF13ABC3966F}"/>
              </a:ext>
            </a:extLst>
          </p:cNvPr>
          <p:cNvSpPr/>
          <p:nvPr/>
        </p:nvSpPr>
        <p:spPr>
          <a:xfrm>
            <a:off x="795780" y="1504142"/>
            <a:ext cx="7552440" cy="56257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IN" sz="1600" b="1" dirty="0">
                <a:latin typeface="Calibri"/>
                <a:ea typeface="Calibri"/>
                <a:cs typeface="Calibri"/>
              </a:rPr>
              <a:t>Loan underwriting</a:t>
            </a:r>
            <a:r>
              <a:rPr lang="en-IN" sz="1600" dirty="0">
                <a:latin typeface="Calibri"/>
                <a:ea typeface="Calibri"/>
                <a:cs typeface="Calibri"/>
              </a:rPr>
              <a:t> is the process of evaluating an applicant’s financial information, eligibility, and repayment capacity before a loan is approved.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The process involves reviewing </a:t>
            </a:r>
            <a:r>
              <a:rPr lang="en-IN" sz="1600" b="1" dirty="0">
                <a:latin typeface="Calibri"/>
                <a:ea typeface="Calibri"/>
                <a:cs typeface="Calibri"/>
              </a:rPr>
              <a:t>multiple documents</a:t>
            </a:r>
            <a:r>
              <a:rPr lang="en-IN" sz="1600" dirty="0">
                <a:latin typeface="Calibri"/>
                <a:ea typeface="Calibri"/>
                <a:cs typeface="Calibri"/>
              </a:rPr>
              <a:t> such as identity, income, and financial records.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Manual review can require </a:t>
            </a:r>
            <a:r>
              <a:rPr lang="en-IN" sz="1600" b="1" dirty="0">
                <a:latin typeface="Calibri"/>
                <a:ea typeface="Calibri"/>
                <a:cs typeface="Calibri"/>
              </a:rPr>
              <a:t>repetitive extraction, cross-document verification, and financial analysis</a:t>
            </a:r>
            <a:r>
              <a:rPr lang="en-IN" sz="1600" dirty="0">
                <a:latin typeface="Calibri"/>
                <a:ea typeface="Calibri"/>
                <a:cs typeface="Calibri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Our project proposes a </a:t>
            </a:r>
            <a:r>
              <a:rPr lang="en-IN" sz="1600" b="1" dirty="0">
                <a:latin typeface="Calibri"/>
                <a:ea typeface="Calibri"/>
                <a:cs typeface="Calibri"/>
              </a:rPr>
              <a:t>Multi-Agent Agentic AI system</a:t>
            </a:r>
            <a:r>
              <a:rPr lang="en-IN" sz="1600" dirty="0">
                <a:latin typeface="Calibri"/>
                <a:ea typeface="Calibri"/>
                <a:cs typeface="Calibri"/>
              </a:rPr>
              <a:t> to assist loan officers in these tasks.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Specialized agents handle </a:t>
            </a:r>
            <a:r>
              <a:rPr lang="en-IN" sz="1600" b="1" dirty="0">
                <a:latin typeface="Calibri"/>
                <a:ea typeface="Calibri"/>
                <a:cs typeface="Calibri"/>
              </a:rPr>
              <a:t>document understanding, eligibility evaluation, risk assessment, and anomaly detection</a:t>
            </a:r>
            <a:r>
              <a:rPr lang="en-IN" sz="1600" dirty="0">
                <a:latin typeface="Calibri"/>
                <a:ea typeface="Calibri"/>
                <a:cs typeface="Calibri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The system consolidates the findings and generates an </a:t>
            </a:r>
            <a:r>
              <a:rPr lang="en-IN" sz="1600" b="1" dirty="0">
                <a:latin typeface="Calibri"/>
                <a:ea typeface="Calibri"/>
                <a:cs typeface="Calibri"/>
              </a:rPr>
              <a:t>explainable recommendation</a:t>
            </a:r>
            <a:r>
              <a:rPr lang="en-IN" sz="1600" dirty="0">
                <a:latin typeface="Calibri"/>
                <a:ea typeface="Calibri"/>
                <a:cs typeface="Calibri"/>
              </a:rPr>
              <a:t>, while the </a:t>
            </a:r>
            <a:r>
              <a:rPr lang="en-IN" sz="1600" b="1" dirty="0">
                <a:latin typeface="Calibri"/>
                <a:ea typeface="Calibri"/>
                <a:cs typeface="Calibri"/>
              </a:rPr>
              <a:t>final decision remains with the human loan officer</a:t>
            </a:r>
            <a:r>
              <a:rPr lang="en-IN" sz="1600" dirty="0">
                <a:latin typeface="Calibri"/>
                <a:ea typeface="Calibri"/>
                <a:cs typeface="Calibri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IN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546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50EC-C8C8-0BAD-5A25-1B7C1E12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>
            <a:extLst>
              <a:ext uri="{FF2B5EF4-FFF2-40B4-BE49-F238E27FC236}">
                <a16:creationId xmlns:a16="http://schemas.microsoft.com/office/drawing/2014/main" id="{170543BB-4B7E-535B-9A95-D1950017E0E7}"/>
              </a:ext>
            </a:extLst>
          </p:cNvPr>
          <p:cNvSpPr txBox="1"/>
          <p:nvPr/>
        </p:nvSpPr>
        <p:spPr>
          <a:xfrm>
            <a:off x="-3184" y="6493289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E0A0D5A-29CA-4598-98AE-F3B851904A26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0" name="TextShape 2">
            <a:extLst>
              <a:ext uri="{FF2B5EF4-FFF2-40B4-BE49-F238E27FC236}">
                <a16:creationId xmlns:a16="http://schemas.microsoft.com/office/drawing/2014/main" id="{6808CC28-8950-9346-735E-2E120C36C6EE}"/>
              </a:ext>
            </a:extLst>
          </p:cNvPr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4578C37-6689-4772-95B2-A9F798A30061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4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1" name="CustomShape 3">
            <a:extLst>
              <a:ext uri="{FF2B5EF4-FFF2-40B4-BE49-F238E27FC236}">
                <a16:creationId xmlns:a16="http://schemas.microsoft.com/office/drawing/2014/main" id="{BC756D2C-507A-290C-6A69-04FD821E9A39}"/>
              </a:ext>
            </a:extLst>
          </p:cNvPr>
          <p:cNvSpPr/>
          <p:nvPr/>
        </p:nvSpPr>
        <p:spPr>
          <a:xfrm>
            <a:off x="1679304" y="862919"/>
            <a:ext cx="5785392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5092CF"/>
                </a:solidFill>
                <a:latin typeface="Open Sans"/>
                <a:ea typeface="Open Sans"/>
              </a:rPr>
              <a:t>Problem Statement</a:t>
            </a:r>
            <a:r>
              <a:rPr lang="en-US" sz="4000" b="1" strike="noStrike" spc="-1" dirty="0">
                <a:solidFill>
                  <a:srgbClr val="F10000"/>
                </a:solidFill>
                <a:latin typeface="Cambria"/>
                <a:ea typeface="Open Sans"/>
              </a:rPr>
              <a:t> 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52" name="CustomShape 4">
            <a:extLst>
              <a:ext uri="{FF2B5EF4-FFF2-40B4-BE49-F238E27FC236}">
                <a16:creationId xmlns:a16="http://schemas.microsoft.com/office/drawing/2014/main" id="{94311A18-EEEE-51A4-7DA5-87D45913455A}"/>
              </a:ext>
            </a:extLst>
          </p:cNvPr>
          <p:cNvSpPr/>
          <p:nvPr/>
        </p:nvSpPr>
        <p:spPr>
          <a:xfrm>
            <a:off x="795780" y="2008227"/>
            <a:ext cx="7552440" cy="2630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Develop a </a:t>
            </a:r>
            <a:r>
              <a:rPr lang="en-IN" sz="1600" b="1" dirty="0">
                <a:latin typeface="Calibri"/>
                <a:ea typeface="Calibri"/>
                <a:cs typeface="Calibri"/>
              </a:rPr>
              <a:t>multi-agent AI-based Loan Underwriting Assistant</a:t>
            </a:r>
            <a:r>
              <a:rPr lang="en-IN" sz="1600" dirty="0">
                <a:latin typeface="Calibri"/>
                <a:ea typeface="Calibri"/>
                <a:cs typeface="Calibri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/>
                <a:ea typeface="Calibri"/>
                <a:cs typeface="Calibri"/>
              </a:rPr>
              <a:t>Extract and analyze</a:t>
            </a:r>
            <a:r>
              <a:rPr lang="en-IN" sz="1600" dirty="0">
                <a:latin typeface="Calibri"/>
                <a:ea typeface="Calibri"/>
                <a:cs typeface="Calibri"/>
              </a:rPr>
              <a:t> information from applicant documents.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/>
                <a:ea typeface="Calibri"/>
                <a:cs typeface="Calibri"/>
              </a:rPr>
              <a:t>Evaluate eligibility and repayment risk</a:t>
            </a:r>
            <a:r>
              <a:rPr lang="en-IN" sz="1600" dirty="0">
                <a:latin typeface="Calibri"/>
                <a:ea typeface="Calibri"/>
                <a:cs typeface="Calibri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/>
                <a:ea typeface="Calibri"/>
                <a:cs typeface="Calibri"/>
              </a:rPr>
              <a:t>Detect inconsistencies</a:t>
            </a:r>
            <a:r>
              <a:rPr lang="en-IN" sz="1600" dirty="0">
                <a:latin typeface="Calibri"/>
                <a:ea typeface="Calibri"/>
                <a:cs typeface="Calibri"/>
              </a:rPr>
              <a:t> across the application.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Generate an </a:t>
            </a:r>
            <a:r>
              <a:rPr lang="en-IN" sz="1600" b="1" dirty="0">
                <a:latin typeface="Calibri"/>
                <a:ea typeface="Calibri"/>
                <a:cs typeface="Calibri"/>
              </a:rPr>
              <a:t>explainable loan recommendation</a:t>
            </a:r>
            <a:r>
              <a:rPr lang="en-IN" sz="1600" dirty="0">
                <a:latin typeface="Calibri"/>
                <a:ea typeface="Calibri"/>
                <a:cs typeface="Calibri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/>
                <a:ea typeface="Calibri"/>
                <a:cs typeface="Calibri"/>
              </a:rPr>
              <a:t>Support the </a:t>
            </a:r>
            <a:r>
              <a:rPr lang="en-IN" sz="1600" b="1" dirty="0">
                <a:latin typeface="Calibri"/>
                <a:ea typeface="Calibri"/>
                <a:cs typeface="Calibri"/>
              </a:rPr>
              <a:t>human loan officer's final </a:t>
            </a:r>
            <a:r>
              <a:rPr lang="en-IN" sz="1400" b="1" dirty="0">
                <a:latin typeface="Calibri"/>
                <a:ea typeface="Calibri"/>
                <a:cs typeface="Calibri"/>
              </a:rPr>
              <a:t>decision</a:t>
            </a:r>
            <a:r>
              <a:rPr lang="en-IN" sz="160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698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F21A-6819-C094-7EE5-F9574993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>
            <a:extLst>
              <a:ext uri="{FF2B5EF4-FFF2-40B4-BE49-F238E27FC236}">
                <a16:creationId xmlns:a16="http://schemas.microsoft.com/office/drawing/2014/main" id="{F2FF46A1-FDD3-A0F6-E7C3-85DD5B590C73}"/>
              </a:ext>
            </a:extLst>
          </p:cNvPr>
          <p:cNvSpPr txBox="1"/>
          <p:nvPr/>
        </p:nvSpPr>
        <p:spPr>
          <a:xfrm>
            <a:off x="-3184" y="6493289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E0A0D5A-29CA-4598-98AE-F3B851904A26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0" name="TextShape 2">
            <a:extLst>
              <a:ext uri="{FF2B5EF4-FFF2-40B4-BE49-F238E27FC236}">
                <a16:creationId xmlns:a16="http://schemas.microsoft.com/office/drawing/2014/main" id="{5112C7F6-2F89-44DE-000E-E41BBBC7414B}"/>
              </a:ext>
            </a:extLst>
          </p:cNvPr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4578C37-6689-4772-95B2-A9F798A30061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5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1" name="CustomShape 3">
            <a:extLst>
              <a:ext uri="{FF2B5EF4-FFF2-40B4-BE49-F238E27FC236}">
                <a16:creationId xmlns:a16="http://schemas.microsoft.com/office/drawing/2014/main" id="{42EA8434-7309-2102-A39A-4E3B024599D4}"/>
              </a:ext>
            </a:extLst>
          </p:cNvPr>
          <p:cNvSpPr/>
          <p:nvPr/>
        </p:nvSpPr>
        <p:spPr>
          <a:xfrm>
            <a:off x="1679304" y="862919"/>
            <a:ext cx="5785392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5092CF"/>
                </a:solidFill>
                <a:latin typeface="Open Sans"/>
                <a:ea typeface="Open Sans"/>
              </a:rPr>
              <a:t>Objectives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52" name="CustomShape 4">
            <a:extLst>
              <a:ext uri="{FF2B5EF4-FFF2-40B4-BE49-F238E27FC236}">
                <a16:creationId xmlns:a16="http://schemas.microsoft.com/office/drawing/2014/main" id="{6FD0BDE7-296D-2243-36C1-B4660AB6CCBE}"/>
              </a:ext>
            </a:extLst>
          </p:cNvPr>
          <p:cNvSpPr/>
          <p:nvPr/>
        </p:nvSpPr>
        <p:spPr>
          <a:xfrm>
            <a:off x="795780" y="2008227"/>
            <a:ext cx="7552440" cy="3745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US" sz="16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b="1" dirty="0">
                <a:latin typeface="Calibri"/>
                <a:ea typeface="Calibri"/>
                <a:cs typeface="Calibri"/>
              </a:rPr>
              <a:t>Automate document understanding</a:t>
            </a:r>
            <a:r>
              <a:rPr lang="en-US" sz="1600" dirty="0">
                <a:latin typeface="Calibri"/>
                <a:ea typeface="Calibri"/>
                <a:cs typeface="Calibri"/>
              </a:rPr>
              <a:t> using OCR and document-processing techniques.</a:t>
            </a: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b="1" dirty="0">
                <a:latin typeface="Calibri"/>
                <a:ea typeface="Calibri"/>
                <a:cs typeface="Calibri"/>
              </a:rPr>
              <a:t>Evaluate loan eligibility</a:t>
            </a:r>
            <a:r>
              <a:rPr lang="en-US" sz="1600" dirty="0">
                <a:latin typeface="Calibri"/>
                <a:ea typeface="Calibri"/>
                <a:cs typeface="Calibri"/>
              </a:rPr>
              <a:t> using predefined lending conditions.</a:t>
            </a: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b="1" dirty="0">
                <a:latin typeface="Calibri"/>
                <a:ea typeface="Calibri"/>
                <a:cs typeface="Calibri"/>
              </a:rPr>
              <a:t>Assess repayment risk</a:t>
            </a:r>
            <a:r>
              <a:rPr lang="en-US" sz="1600" dirty="0">
                <a:latin typeface="Calibri"/>
                <a:ea typeface="Calibri"/>
                <a:cs typeface="Calibri"/>
              </a:rPr>
              <a:t> using extracted financial information and predefined rules/models.</a:t>
            </a: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b="1" dirty="0">
                <a:latin typeface="Calibri"/>
                <a:ea typeface="Calibri"/>
                <a:cs typeface="Calibri"/>
              </a:rPr>
              <a:t>Detect anomalies and inconsistencies</a:t>
            </a:r>
            <a:r>
              <a:rPr lang="en-US" sz="1600" dirty="0">
                <a:latin typeface="Calibri"/>
                <a:ea typeface="Calibri"/>
                <a:cs typeface="Calibri"/>
              </a:rPr>
              <a:t> across applicant documents.</a:t>
            </a: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b="1" dirty="0">
                <a:latin typeface="Calibri"/>
                <a:ea typeface="Calibri"/>
                <a:cs typeface="Calibri"/>
              </a:rPr>
              <a:t>Generate explainable recommendations</a:t>
            </a:r>
            <a:r>
              <a:rPr lang="en-US" sz="1600" dirty="0">
                <a:latin typeface="Calibri"/>
                <a:ea typeface="Calibri"/>
                <a:cs typeface="Calibri"/>
              </a:rPr>
              <a:t> with supporting evidence.</a:t>
            </a: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Provide a </a:t>
            </a:r>
            <a:r>
              <a:rPr lang="en-US" sz="1600" b="1" dirty="0">
                <a:latin typeface="Calibri"/>
                <a:ea typeface="Calibri"/>
                <a:cs typeface="Calibri"/>
              </a:rPr>
              <a:t>human-in-the-loop dashboard</a:t>
            </a:r>
            <a:r>
              <a:rPr lang="en-US" sz="1600" dirty="0">
                <a:latin typeface="Calibri"/>
                <a:ea typeface="Calibri"/>
                <a:cs typeface="Calibri"/>
              </a:rPr>
              <a:t> for loan officer review.</a:t>
            </a:r>
          </a:p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Maintain an </a:t>
            </a:r>
            <a:r>
              <a:rPr lang="en-US" sz="1600" b="1" dirty="0">
                <a:latin typeface="Calibri"/>
                <a:ea typeface="Calibri"/>
                <a:cs typeface="Calibri"/>
              </a:rPr>
              <a:t>audit-oriented record</a:t>
            </a:r>
            <a:r>
              <a:rPr lang="en-US" sz="1600" dirty="0">
                <a:latin typeface="Calibri"/>
                <a:ea typeface="Calibri"/>
                <a:cs typeface="Calibri"/>
              </a:rPr>
              <a:t> of the final outcome.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89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3ED5E-691D-F115-A6F6-B19461C9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>
            <a:extLst>
              <a:ext uri="{FF2B5EF4-FFF2-40B4-BE49-F238E27FC236}">
                <a16:creationId xmlns:a16="http://schemas.microsoft.com/office/drawing/2014/main" id="{A881CA4D-6ED5-605F-332A-53EE6F1AFE61}"/>
              </a:ext>
            </a:extLst>
          </p:cNvPr>
          <p:cNvSpPr txBox="1"/>
          <p:nvPr/>
        </p:nvSpPr>
        <p:spPr>
          <a:xfrm>
            <a:off x="-3184" y="6493289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E0A0D5A-29CA-4598-98AE-F3B851904A26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0" name="TextShape 2">
            <a:extLst>
              <a:ext uri="{FF2B5EF4-FFF2-40B4-BE49-F238E27FC236}">
                <a16:creationId xmlns:a16="http://schemas.microsoft.com/office/drawing/2014/main" id="{ECB1BD7F-CCE9-3CD3-1E72-163C6D132C51}"/>
              </a:ext>
            </a:extLst>
          </p:cNvPr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4578C37-6689-4772-95B2-A9F798A30061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1" name="CustomShape 3">
            <a:extLst>
              <a:ext uri="{FF2B5EF4-FFF2-40B4-BE49-F238E27FC236}">
                <a16:creationId xmlns:a16="http://schemas.microsoft.com/office/drawing/2014/main" id="{50AF3E43-A30F-FE44-A6FB-89CC3B247BF4}"/>
              </a:ext>
            </a:extLst>
          </p:cNvPr>
          <p:cNvSpPr/>
          <p:nvPr/>
        </p:nvSpPr>
        <p:spPr>
          <a:xfrm>
            <a:off x="1679304" y="862919"/>
            <a:ext cx="5785392" cy="48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5092CF"/>
                </a:solidFill>
                <a:latin typeface="Open Sans"/>
                <a:ea typeface="Open Sans"/>
              </a:rPr>
              <a:t>References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" name="CustomShape 4">
            <a:extLst>
              <a:ext uri="{FF2B5EF4-FFF2-40B4-BE49-F238E27FC236}">
                <a16:creationId xmlns:a16="http://schemas.microsoft.com/office/drawing/2014/main" id="{A59678A2-520A-D737-4636-ED7DA452D86D}"/>
              </a:ext>
            </a:extLst>
          </p:cNvPr>
          <p:cNvSpPr/>
          <p:nvPr/>
        </p:nvSpPr>
        <p:spPr>
          <a:xfrm>
            <a:off x="795780" y="1552330"/>
            <a:ext cx="7552440" cy="55926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[1] W. Wang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et al.</a:t>
            </a:r>
            <a:r>
              <a:rPr lang="en-US" sz="1600" dirty="0">
                <a:latin typeface="Calibri"/>
                <a:ea typeface="Calibri"/>
                <a:cs typeface="Calibri"/>
              </a:rPr>
              <a:t>, “Using Small Business Banking Data for Explainable Credit Risk Scoring,”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Proc. AAAI Conf. </a:t>
            </a:r>
            <a:r>
              <a:rPr lang="en-US" sz="1600" i="1" dirty="0" err="1">
                <a:latin typeface="Calibri"/>
                <a:ea typeface="Calibri"/>
                <a:cs typeface="Calibri"/>
              </a:rPr>
              <a:t>Artif</a:t>
            </a:r>
            <a:r>
              <a:rPr lang="en-US" sz="1600" i="1" dirty="0">
                <a:latin typeface="Calibri"/>
                <a:ea typeface="Calibri"/>
                <a:cs typeface="Calibri"/>
              </a:rPr>
              <a:t>. Intell.</a:t>
            </a:r>
            <a:r>
              <a:rPr lang="en-US" sz="1600" dirty="0">
                <a:latin typeface="Calibri"/>
                <a:ea typeface="Calibri"/>
                <a:cs typeface="Calibri"/>
              </a:rPr>
              <a:t>, 2020.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[2] M. Liu, “Assessing Human Information Processing in Lending Decisions: A Machine Learning Approach,”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Journal of Accounting Research</a:t>
            </a:r>
            <a:r>
              <a:rPr lang="en-US" sz="1600" dirty="0">
                <a:latin typeface="Calibri"/>
                <a:ea typeface="Calibri"/>
                <a:cs typeface="Calibri"/>
              </a:rPr>
              <a:t>, 2022.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[3] N. Bussmann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et al.</a:t>
            </a:r>
            <a:r>
              <a:rPr lang="en-US" sz="1600" dirty="0">
                <a:latin typeface="Calibri"/>
                <a:ea typeface="Calibri"/>
                <a:cs typeface="Calibri"/>
              </a:rPr>
              <a:t>, “Explainable Machine Learning in Credit Risk Management,”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Computational Economics</a:t>
            </a:r>
            <a:r>
              <a:rPr lang="en-US" sz="1600" dirty="0">
                <a:latin typeface="Calibri"/>
                <a:ea typeface="Calibri"/>
                <a:cs typeface="Calibri"/>
              </a:rPr>
              <a:t>, 2021.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[4] M. Tetteh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et al.</a:t>
            </a:r>
            <a:r>
              <a:rPr lang="en-US" sz="1600" dirty="0">
                <a:latin typeface="Calibri"/>
                <a:ea typeface="Calibri"/>
                <a:cs typeface="Calibri"/>
              </a:rPr>
              <a:t>, “Credit Risk Assessment with Madaline and Multilayer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Perceptrons</a:t>
            </a:r>
            <a:r>
              <a:rPr lang="en-US" sz="1600" dirty="0">
                <a:latin typeface="Calibri"/>
                <a:ea typeface="Calibri"/>
                <a:cs typeface="Calibri"/>
              </a:rPr>
              <a:t>,”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Springer</a:t>
            </a:r>
            <a:r>
              <a:rPr lang="en-US" sz="1600" dirty="0">
                <a:latin typeface="Calibri"/>
                <a:ea typeface="Calibri"/>
                <a:cs typeface="Calibri"/>
              </a:rPr>
              <a:t>, 2024.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[5] P.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Jutasompakorn</a:t>
            </a:r>
            <a:r>
              <a:rPr lang="en-US" sz="1600" dirty="0">
                <a:latin typeface="Calibri"/>
                <a:ea typeface="Calibri"/>
                <a:cs typeface="Calibri"/>
              </a:rPr>
              <a:t>, A. Perdana, and V. Balachandran, “Enhancing Decision Making with Machine Learning: The Case of Aurora Crowdlending Platform,” 2023.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[6] N. Remolina, “The Role of Financial Regulators in the Governance of Algorithmic Credit Scoring,” SMU, 2022.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</a:rPr>
              <a:t>[7] Q. Wu </a:t>
            </a:r>
            <a:r>
              <a:rPr lang="en-US" sz="1600" i="1" dirty="0">
                <a:latin typeface="Calibri"/>
                <a:ea typeface="Calibri"/>
                <a:cs typeface="Calibri"/>
              </a:rPr>
              <a:t>et al.</a:t>
            </a:r>
            <a:r>
              <a:rPr lang="en-US" sz="1600" dirty="0">
                <a:latin typeface="Calibri"/>
                <a:ea typeface="Calibri"/>
                <a:cs typeface="Calibri"/>
              </a:rPr>
              <a:t>, “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AutoGen</a:t>
            </a:r>
            <a:r>
              <a:rPr lang="en-US" sz="1600" dirty="0">
                <a:latin typeface="Calibri"/>
                <a:ea typeface="Calibri"/>
                <a:cs typeface="Calibri"/>
              </a:rPr>
              <a:t>: Enabling Next-Gen LLM Applications via Multi-Agent Conversation,” ICLR Workshop, 2024.</a:t>
            </a:r>
          </a:p>
          <a:p>
            <a:pPr lvl="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endParaRPr lang="en-IN" sz="16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456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-3184" y="6493289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054DD8FE-CF07-45CF-B923-833FF4B076CF}" type="datetime1">
              <a:rPr lang="en-IN" sz="900" b="0" strike="noStrike" spc="-1">
                <a:solidFill>
                  <a:srgbClr val="8B8B8B"/>
                </a:solidFill>
                <a:latin typeface="Calibri"/>
              </a:rPr>
              <a:t>16-09-2026</a:t>
            </a:fld>
            <a:endParaRPr lang="en-IN" sz="900" b="0" strike="noStrike" spc="-1">
              <a:latin typeface="Times New Roman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7702EE6-03C5-4479-9169-3E95CD032EDE}" type="slidenum">
              <a:rPr lang="en-IN" sz="900" b="0" strike="noStrike" spc="-1">
                <a:solidFill>
                  <a:srgbClr val="8B8B8B"/>
                </a:solidFill>
                <a:latin typeface="Calibri"/>
              </a:rPr>
              <a:t>7</a:t>
            </a:fld>
            <a:endParaRPr lang="en-IN" sz="900" b="0" strike="noStrike" spc="-1"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4DA3B3-E965-2FF5-1479-69062C433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" r="13438"/>
          <a:stretch>
            <a:fillRect/>
          </a:stretch>
        </p:blipFill>
        <p:spPr>
          <a:xfrm>
            <a:off x="609566" y="1058860"/>
            <a:ext cx="6873467" cy="5392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274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Principal</dc:creator>
  <dc:description/>
  <cp:lastModifiedBy>NABIHA FATHIMA</cp:lastModifiedBy>
  <cp:revision>223</cp:revision>
  <dcterms:created xsi:type="dcterms:W3CDTF">2019-02-22T15:27:18Z</dcterms:created>
  <dcterms:modified xsi:type="dcterms:W3CDTF">2026-09-17T03:45:47Z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</vt:i4>
  </property>
</Properties>
</file>